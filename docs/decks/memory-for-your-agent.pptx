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1188720" cy="6350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F2F3F5"/>
                </a:solidFill>
                <a:latin typeface="Calibri"/>
              </a:rPr>
              <a:t>Memory for Your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4ECCA3"/>
                </a:solidFill>
                <a:latin typeface="Calibri"/>
              </a:rPr>
              <a:t>Cognee, Obsidian, and the A2H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C2C6CE"/>
                </a:solidFill>
                <a:latin typeface="Calibri"/>
              </a:rPr>
              <a:t>Memory isn't just vector search. It's the surface where an agent helps you</a:t>
            </a:r>
          </a:p>
          <a:p>
            <a:r>
              <a:rPr sz="1700" b="0" i="0">
                <a:solidFill>
                  <a:srgbClr val="C2C6CE"/>
                </a:solidFill>
                <a:latin typeface="Calibri"/>
              </a:rPr>
              <a:t>hold continuity across time, projects, and relationships.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09C"/>
                </a:solidFill>
                <a:latin typeface="Calibri"/>
              </a:rPr>
              <a:t>ClawCamp @ Dual Tech Summit 2026</a:t>
            </a:r>
            <a:r>
              <a:rPr sz="1000" b="0" i="0">
                <a:solidFill>
                  <a:srgbClr val="8A909C"/>
                </a:solidFill>
                <a:latin typeface="Calibri"/>
              </a:rPr>
              <a:t>      ·      pawper.dev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09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ECCA3"/>
                </a:solidFill>
                <a:latin typeface="Consolas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188720" cy="6350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2F3F5"/>
                </a:solidFill>
                <a:latin typeface="Calibri"/>
              </a:rPr>
              <a:t>Context-window amnesia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A raw model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has no long-term memory. Every chat, it meets you for the first time.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The context window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is short-term memory (RAM). When it scrolls, it's gone.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Without memory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your agent can't carry a decision from last week or a project from last month.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Memory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is the notebook that lets it participate in continuity — not start at zero.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09C"/>
                </a:solidFill>
                <a:latin typeface="Calibri"/>
              </a:rPr>
              <a:t>ClawCamp @ Dual Tech Summit 2026</a:t>
            </a:r>
            <a:r>
              <a:rPr sz="1000" b="0" i="0">
                <a:solidFill>
                  <a:srgbClr val="8A909C"/>
                </a:solidFill>
                <a:latin typeface="Calibri"/>
              </a:rPr>
              <a:t>      ·      pawper.dev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09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ECCA3"/>
                </a:solidFill>
                <a:latin typeface="Consolas"/>
              </a:rPr>
              <a:t>DISAMBIGUATION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188720" cy="6350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2F3F5"/>
                </a:solidFill>
                <a:latin typeface="Calibri"/>
              </a:rPr>
              <a:t>"Memory" means five different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Context engineering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fit more into the working set (compaction, caching).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Retrieval (RAG)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pull relevant facts at answer time.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Persistent state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facts that survive restarts, across sessions.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Semantic / episodic / procedural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what's true / what happened / how to do it.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Memory-as-tool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the agent decides when to read &amp; write 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09C"/>
                </a:solidFill>
                <a:latin typeface="Calibri"/>
              </a:rPr>
              <a:t>ClawCamp @ Dual Tech Summit 2026</a:t>
            </a:r>
            <a:r>
              <a:rPr sz="1000" b="0" i="0">
                <a:solidFill>
                  <a:srgbClr val="8A909C"/>
                </a:solidFill>
                <a:latin typeface="Calibri"/>
              </a:rPr>
              <a:t>      ·      pawper.dev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09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ECCA3"/>
                </a:solidFill>
                <a:latin typeface="Consolas"/>
              </a:rPr>
              <a:t>ELI5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188720" cy="6350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2F3F5"/>
                </a:solidFill>
                <a:latin typeface="Calibri"/>
              </a:rPr>
              <a:t>In one breath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2F3F5"/>
                </a:solidFill>
                <a:latin typeface="Calibri"/>
              </a:rPr>
              <a:t>Memory is the stuff your agent writes down so it doesn't forget you between chats.</a:t>
            </a:r>
          </a:p>
          <a:p>
            <a:pPr>
              <a:spcBef>
                <a:spcPts val="1800"/>
              </a:spcBef>
            </a:pPr>
            <a:r>
              <a:rPr sz="2000" b="0" i="0">
                <a:solidFill>
                  <a:srgbClr val="C2C6CE"/>
                </a:solidFill>
                <a:latin typeface="Calibri"/>
              </a:rPr>
              <a:t>A model by itself is brilliant but amnesiac. Memory is the notebook it keeps — </a:t>
            </a:r>
            <a:r>
              <a:rPr sz="2000" b="0" i="0">
                <a:solidFill>
                  <a:srgbClr val="4ECCA3"/>
                </a:solidFill>
                <a:latin typeface="Calibri"/>
              </a:rPr>
              <a:t>and the trick is deciding what's worth writing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09C"/>
                </a:solidFill>
                <a:latin typeface="Calibri"/>
              </a:rPr>
              <a:t>ClawCamp @ Dual Tech Summit 2026</a:t>
            </a:r>
            <a:r>
              <a:rPr sz="1000" b="0" i="0">
                <a:solidFill>
                  <a:srgbClr val="8A909C"/>
                </a:solidFill>
                <a:latin typeface="Calibri"/>
              </a:rPr>
              <a:t>      ·      pawper.dev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09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ECCA3"/>
                </a:solidFill>
                <a:latin typeface="Consolas"/>
              </a:rPr>
              <a:t>JARGON, DECODED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188720" cy="6350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2F3F5"/>
                </a:solidFill>
                <a:latin typeface="Calibri"/>
              </a:rPr>
              <a:t>What's RAG?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RAG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= Retrieval-Augmented Generation.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Before the model answers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you search a store for the most relevant chunks and paste them into the prompt.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It's how an agent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"looks things up" instead of relying on what it memorized in training.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Plain (vector) RAG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finds text that's semantically similar. Great for “find notes like this.”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Its blind spots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time and relationships — which is where graphs come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09C"/>
                </a:solidFill>
                <a:latin typeface="Calibri"/>
              </a:rPr>
              <a:t>ClawCamp @ Dual Tech Summit 2026</a:t>
            </a:r>
            <a:r>
              <a:rPr sz="1000" b="0" i="0">
                <a:solidFill>
                  <a:srgbClr val="8A909C"/>
                </a:solidFill>
                <a:latin typeface="Calibri"/>
              </a:rPr>
              <a:t>      ·      pawper.dev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09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ECCA3"/>
                </a:solidFill>
                <a:latin typeface="Consolas"/>
              </a:rPr>
              <a:t>THE CORE TRADE-OFF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188720" cy="6350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2F3F5"/>
                </a:solidFill>
                <a:latin typeface="Calibri"/>
              </a:rPr>
              <a:t>Vectors vs. graphs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5029200" cy="3383280"/>
          </a:xfrm>
          <a:prstGeom prst="roundRect">
            <a:avLst/>
          </a:prstGeom>
          <a:solidFill>
            <a:srgbClr val="1C2029"/>
          </a:solidFill>
          <a:ln w="15875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2200" b="1" i="0">
                <a:solidFill>
                  <a:srgbClr val="4ECCA3"/>
                </a:solidFill>
                <a:latin typeface="Calibri"/>
              </a:rPr>
              <a:t>Vectors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2C6CE"/>
                </a:solidFill>
                <a:latin typeface="Calibri"/>
              </a:rPr>
              <a:t>• Similarity search over embeddings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2C6CE"/>
                </a:solidFill>
                <a:latin typeface="Calibri"/>
              </a:rPr>
              <a:t>• Simple and fast to stand up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2C6CE"/>
                </a:solidFill>
                <a:latin typeface="Calibri"/>
              </a:rPr>
              <a:t>• Great at “find me things like this”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2C6CE"/>
                </a:solidFill>
                <a:latin typeface="Calibri"/>
              </a:rPr>
              <a:t>• Blind to time; no real relationships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74519"/>
            <a:ext cx="5029200" cy="3383280"/>
          </a:xfrm>
          <a:prstGeom prst="roundRect">
            <a:avLst/>
          </a:prstGeom>
          <a:solidFill>
            <a:srgbClr val="1C2029"/>
          </a:solidFill>
          <a:ln w="15875">
            <a:solidFill>
              <a:srgbClr val="B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2200" b="1" i="0">
                <a:solidFill>
                  <a:srgbClr val="B48BFF"/>
                </a:solidFill>
                <a:latin typeface="Calibri"/>
              </a:rPr>
              <a:t>Knowledge graphs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2C6CE"/>
                </a:solidFill>
                <a:latin typeface="Calibri"/>
              </a:rPr>
              <a:t>• Entities + links + timestamps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2C6CE"/>
                </a:solidFill>
                <a:latin typeface="Calibri"/>
              </a:rPr>
              <a:t>• Answers “how are these connected?”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2C6CE"/>
                </a:solidFill>
                <a:latin typeface="Calibri"/>
              </a:rPr>
              <a:t>• Answers “what was true last Tuesday?”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2C6CE"/>
                </a:solidFill>
                <a:latin typeface="Calibri"/>
              </a:rPr>
              <a:t>• More moving parts to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406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F2F3F5"/>
                </a:solidFill>
                <a:latin typeface="Calibri"/>
              </a:rPr>
              <a:t>Vectors win on simplicity. Graphs win on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09C"/>
                </a:solidFill>
                <a:latin typeface="Calibri"/>
              </a:rPr>
              <a:t>ClawCamp @ Dual Tech Summit 2026</a:t>
            </a:r>
            <a:r>
              <a:rPr sz="1000" b="0" i="0">
                <a:solidFill>
                  <a:srgbClr val="8A909C"/>
                </a:solidFill>
                <a:latin typeface="Calibri"/>
              </a:rPr>
              <a:t>      ·      pawper.dev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09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ECCA3"/>
                </a:solidFill>
                <a:latin typeface="Consolas"/>
              </a:rPr>
              <a:t>THE THREE CLASSIC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188720" cy="6350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2F3F5"/>
                </a:solidFill>
                <a:latin typeface="Calibri"/>
              </a:rPr>
              <a:t>Semantic, episodic, procedural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Semantic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what is true. “I prefer jade-teal accents.” Facts and entities.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Episodic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what happened, and when. “On June 17 we chose Postgres.” Timestamped events.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Procedural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how to do it. Your rules and workflows — your AGENTS.md and skills.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9377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8A909C"/>
                </a:solidFill>
                <a:latin typeface="Calibri"/>
              </a:rPr>
              <a:t>Procedural memory is the highest-leverage layer you can ship today — </a:t>
            </a:r>
            <a:r>
              <a:rPr sz="1700" b="0" i="1">
                <a:solidFill>
                  <a:srgbClr val="8A909C"/>
                </a:solidFill>
                <a:latin typeface="Calibri"/>
              </a:rPr>
              <a:t>it's just words you and the model both 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09C"/>
                </a:solidFill>
                <a:latin typeface="Calibri"/>
              </a:rPr>
              <a:t>ClawCamp @ Dual Tech Summit 2026</a:t>
            </a:r>
            <a:r>
              <a:rPr sz="1000" b="0" i="0">
                <a:solidFill>
                  <a:srgbClr val="8A909C"/>
                </a:solidFill>
                <a:latin typeface="Calibri"/>
              </a:rPr>
              <a:t>      ·      pawper.dev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09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ECCA3"/>
                </a:solidFill>
                <a:latin typeface="Consolas"/>
              </a:rPr>
              <a:t>THE 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188720" cy="6350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2F3F5"/>
                </a:solidFill>
                <a:latin typeface="Calibri"/>
              </a:rPr>
              <a:t>Cognee: notes → knowledge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What it does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reads your documents and extracts entities + the relationships between them.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Add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point Cognee at your notes / vault files.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Cognify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it builds a knowledge graph plus vector embeddings.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Search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ask in natural language; it traverses the graph and the vectors, with provenance.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292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4ECCA3"/>
                </a:solidFill>
                <a:latin typeface="Calibri"/>
              </a:rPr>
              <a:t>Result: “what's connected to what” and “what was true when,” not just “what's similar.”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09C"/>
                </a:solidFill>
                <a:latin typeface="Calibri"/>
              </a:rPr>
              <a:t>ClawCamp @ Dual Tech Summit 2026</a:t>
            </a:r>
            <a:r>
              <a:rPr sz="1000" b="0" i="0">
                <a:solidFill>
                  <a:srgbClr val="8A909C"/>
                </a:solidFill>
                <a:latin typeface="Calibri"/>
              </a:rPr>
              <a:t>      ·      pawper.dev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09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ECCA3"/>
                </a:solidFill>
                <a:latin typeface="Consolas"/>
              </a:rPr>
              <a:t>HOW COGNEE COVERS THE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188720" cy="6350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2F3F5"/>
                </a:solidFill>
                <a:latin typeface="Calibri"/>
              </a:rPr>
              <a:t>Where each kind of memory lives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Semantic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entities &amp; edges in the Cognee graph.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Episodic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timestamped nodes → temporal queries (“what was true on this date”).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Persistent state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Cognee's stores survive restarts (graph + vector + relational).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Working / context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the prompt window — Cognee feeds it via retrieval.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Procedural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NOT Cognee's job — keep it in AGENTS.md / skills.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09C"/>
                </a:solidFill>
                <a:latin typeface="Calibri"/>
              </a:rPr>
              <a:t>ClawCamp @ Dual Tech Summit 2026</a:t>
            </a:r>
            <a:r>
              <a:rPr sz="1000" b="0" i="0">
                <a:solidFill>
                  <a:srgbClr val="8A909C"/>
                </a:solidFill>
                <a:latin typeface="Calibri"/>
              </a:rPr>
              <a:t>      ·      pawper.dev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09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ECCA3"/>
                </a:solidFill>
                <a:latin typeface="Consolas"/>
              </a:rPr>
              <a:t>THE A2H 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188720" cy="6350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2F3F5"/>
                </a:solidFill>
                <a:latin typeface="Calibri"/>
              </a:rPr>
              <a:t>Obsidian = memory you can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Local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your memory lives on your machine, not someone's cloud.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Markdown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plain text you and the agent both read and write.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Reviewable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open any note, edit it, delete it. The graph view makes links visible.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The rule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if the agent remembers it, you should be able to read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09C"/>
                </a:solidFill>
                <a:latin typeface="Calibri"/>
              </a:rPr>
              <a:t>ClawCamp @ Dual Tech Summit 2026</a:t>
            </a:r>
            <a:r>
              <a:rPr sz="1000" b="0" i="0">
                <a:solidFill>
                  <a:srgbClr val="8A909C"/>
                </a:solidFill>
                <a:latin typeface="Calibri"/>
              </a:rPr>
              <a:t>      ·      pawper.dev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09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ECCA3"/>
                </a:solidFill>
                <a:latin typeface="Consolas"/>
              </a:rPr>
              <a:t>THE REAL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188720" cy="6350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2F3F5"/>
                </a:solidFill>
                <a:latin typeface="Calibri"/>
              </a:rPr>
              <a:t>Don't remember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Ask 1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will this matter in a month?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Ask 2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is it a decision, fact, commitment, or relationship? (Vibes aren't.)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2000" b="1" i="0">
                <a:solidFill>
                  <a:srgbClr val="F2F3F5"/>
                </a:solidFill>
                <a:latin typeface="Calibri"/>
              </a:rPr>
              <a:t>Ask 3  </a:t>
            </a:r>
            <a:r>
              <a:rPr sz="2000" b="0" i="0">
                <a:solidFill>
                  <a:srgbClr val="C2C6CE"/>
                </a:solidFill>
                <a:latin typeface="Calibri"/>
              </a:rPr>
              <a:t>would I be comfortable reading it back in the graph?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8A909C"/>
                </a:solidFill>
                <a:latin typeface="Calibri"/>
              </a:rPr>
              <a:t>Flow: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daily note → reference note → graph ingestion → recall at the edge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2C6CE"/>
                </a:solidFill>
                <a:latin typeface="Calibri"/>
              </a:rPr>
              <a:t>Things move up the chain only when you decide they're durable.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09C"/>
                </a:solidFill>
                <a:latin typeface="Calibri"/>
              </a:rPr>
              <a:t>ClawCamp @ Dual Tech Summit 2026</a:t>
            </a:r>
            <a:r>
              <a:rPr sz="1000" b="0" i="0">
                <a:solidFill>
                  <a:srgbClr val="8A909C"/>
                </a:solidFill>
                <a:latin typeface="Calibri"/>
              </a:rPr>
              <a:t>      ·      pawper.dev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09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ECCA3"/>
                </a:solidFill>
                <a:latin typeface="Consolas"/>
              </a:rPr>
              <a:t>BOUNDARIES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188720" cy="6350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2F3F5"/>
                </a:solidFill>
                <a:latin typeface="Calibri"/>
              </a:rPr>
              <a:t>Memory needs the firmest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Privacy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name categories that never get ingested. Write them down.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Approval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promotion to durable memory is opt-in, per item — never automatic.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Hygiene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review the graph on a schedule; prune what's stale or untrue.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4ECCA3"/>
                </a:solidFill>
                <a:latin typeface="Calibri"/>
              </a:rPr>
              <a:t>→  </a:t>
            </a:r>
            <a:r>
              <a:rPr sz="1900" b="1" i="0">
                <a:solidFill>
                  <a:srgbClr val="F2F3F5"/>
                </a:solidFill>
                <a:latin typeface="Calibri"/>
              </a:rPr>
              <a:t>Poisoning is real  </a:t>
            </a:r>
            <a:r>
              <a:rPr sz="1900" b="0" i="0">
                <a:solidFill>
                  <a:srgbClr val="C2C6CE"/>
                </a:solidFill>
                <a:latin typeface="Calibri"/>
              </a:rPr>
              <a:t>false facts can be implanted from untrusted sources. Keep memory provably yours.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09C"/>
                </a:solidFill>
                <a:latin typeface="Calibri"/>
              </a:rPr>
              <a:t>ClawCamp @ Dual Tech Summit 2026</a:t>
            </a:r>
            <a:r>
              <a:rPr sz="1000" b="0" i="0">
                <a:solidFill>
                  <a:srgbClr val="8A909C"/>
                </a:solidFill>
                <a:latin typeface="Calibri"/>
              </a:rPr>
              <a:t>      ·      pawper.dev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09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ECCA3"/>
                </a:solidFill>
                <a:latin typeface="Consolas"/>
              </a:rPr>
              <a:t>NOW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188720" cy="6350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2F3F5"/>
                </a:solidFill>
                <a:latin typeface="Calibri"/>
              </a:rPr>
              <a:t>Run the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2F3F5"/>
                </a:solidFill>
                <a:latin typeface="Calibri"/>
              </a:rPr>
              <a:t>Paste the setup prompt from the guide into your agent.</a:t>
            </a:r>
          </a:p>
          <a:p>
            <a:pPr>
              <a:spcBef>
                <a:spcPts val="1600"/>
              </a:spcBef>
            </a:pPr>
            <a:r>
              <a:rPr sz="1900" b="0" i="0">
                <a:solidFill>
                  <a:srgbClr val="C2C6CE"/>
                </a:solidFill>
                <a:latin typeface="Calibri"/>
              </a:rPr>
              <a:t>It scaffolds an Obsidian memory vault, wires Cognee as the graph layer,</a:t>
            </a:r>
          </a:p>
          <a:p>
            <a:r>
              <a:rPr sz="1900" b="0" i="0">
                <a:solidFill>
                  <a:srgbClr val="C2C6CE"/>
                </a:solidFill>
                <a:latin typeface="Calibri"/>
              </a:rPr>
              <a:t>and writes a capture + privacy policy you control.</a:t>
            </a:r>
          </a:p>
          <a:p>
            <a:pPr>
              <a:spcBef>
                <a:spcPts val="2000"/>
              </a:spcBef>
            </a:pPr>
            <a:r>
              <a:rPr sz="2000" b="1" i="0">
                <a:solidFill>
                  <a:srgbClr val="4ECCA3"/>
                </a:solidFill>
                <a:latin typeface="Calibri"/>
              </a:rPr>
              <a:t>pawper.dev/l/memory-for-your-agent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09C"/>
                </a:solidFill>
                <a:latin typeface="Calibri"/>
              </a:rPr>
              <a:t>ClawCamp @ Dual Tech Summit 2026</a:t>
            </a:r>
            <a:r>
              <a:rPr sz="1000" b="0" i="0">
                <a:solidFill>
                  <a:srgbClr val="8A909C"/>
                </a:solidFill>
                <a:latin typeface="Calibri"/>
              </a:rPr>
              <a:t>      ·      pawper.dev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09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43200"/>
            <a:ext cx="1188720" cy="6350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2F3F5"/>
                </a:solidFill>
                <a:latin typeface="Calibri"/>
              </a:rPr>
              <a:t>Memory that strengthens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C2C6CE"/>
                </a:solidFill>
                <a:latin typeface="Calibri"/>
              </a:rPr>
              <a:t>Not invisible surveillance. Not opaque automation.</a:t>
            </a:r>
          </a:p>
          <a:p>
            <a:pPr>
              <a:spcBef>
                <a:spcPts val="1000"/>
              </a:spcBef>
            </a:pPr>
            <a:r>
              <a:rPr sz="2200" b="0" i="0">
                <a:solidFill>
                  <a:srgbClr val="4ECCA3"/>
                </a:solidFill>
                <a:latin typeface="Calibri"/>
              </a:rPr>
              <a:t>Durable, readable, pruned — and handed back to you at every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09C"/>
                </a:solidFill>
                <a:latin typeface="Calibri"/>
              </a:rPr>
              <a:t>ClawCamp @ Dual Tech Summit 2026</a:t>
            </a:r>
            <a:r>
              <a:rPr sz="1000" b="0" i="0">
                <a:solidFill>
                  <a:srgbClr val="8A909C"/>
                </a:solidFill>
                <a:latin typeface="Calibri"/>
              </a:rPr>
              <a:t>      ·      pawper.dev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09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